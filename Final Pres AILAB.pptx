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8A27D63-B1F3-4707-9336-D710A8016023}">
  <a:tblStyle styleId="{18A27D63-B1F3-4707-9336-D710A801602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drive.google.com/file/d/1YSwzzzS6B4J5jOCwpDgkU-pPGk4Ed4Wj/view" TargetMode="External"/><Relationship Id="rId4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B5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132320" y="-914400"/>
            <a:ext cx="3657600" cy="3657600"/>
          </a:xfrm>
          <a:prstGeom prst="ellipse">
            <a:avLst/>
          </a:prstGeom>
          <a:solidFill>
            <a:srgbClr val="1E4D8C">
              <a:alpha val="40000"/>
            </a:srgbClr>
          </a:solidFill>
          <a:ln cap="flat" cmpd="sng" w="12700">
            <a:solidFill>
              <a:srgbClr val="1E4D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589520" y="-457200"/>
            <a:ext cx="2743200" cy="2743200"/>
          </a:xfrm>
          <a:prstGeom prst="ellipse">
            <a:avLst/>
          </a:prstGeom>
          <a:solidFill>
            <a:srgbClr val="0D9488">
              <a:alpha val="25098"/>
            </a:srgbClr>
          </a:solidFill>
          <a:ln cap="flat" cmpd="sng" w="12700">
            <a:solidFill>
              <a:srgbClr val="0D9488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365760" y="45720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200"/>
              <a:buFont typeface="Calibri"/>
              <a:buNone/>
            </a:pPr>
            <a:r>
              <a:rPr b="1" lang="en-US" sz="72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Final Presentation	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65760" y="1371600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Reading Comprehension &amp;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Quiz Generation System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65760" y="2903235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Final Project Report — AI Lab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65760" y="3520440"/>
            <a:ext cx="4114800" cy="1280160"/>
          </a:xfrm>
          <a:prstGeom prst="rect">
            <a:avLst/>
          </a:prstGeom>
          <a:solidFill>
            <a:srgbClr val="1E4D8C">
              <a:alpha val="80000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502920" y="3611880"/>
            <a:ext cx="3840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Mehdi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Roll No: 23i0048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Fahad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Roll No: 23i0614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365760" y="480060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scikit-learn  |  CPU-only  |  RACE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Presentation Agenda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What we'll cover today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65760" y="1325880"/>
            <a:ext cx="4206240" cy="621792"/>
          </a:xfrm>
          <a:prstGeom prst="rect">
            <a:avLst/>
          </a:prstGeom>
          <a:solidFill>
            <a:srgbClr val="F0F4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57200" y="1399032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024128" y="1435608"/>
            <a:ext cx="3474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Dataset — RACE Overview &amp; Statistics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65760" y="2020824"/>
            <a:ext cx="4206240" cy="62179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457200" y="2093976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024128" y="2130552"/>
            <a:ext cx="3474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EDA — Exploratory Data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65760" y="2715768"/>
            <a:ext cx="4206240" cy="621792"/>
          </a:xfrm>
          <a:prstGeom prst="rect">
            <a:avLst/>
          </a:prstGeom>
          <a:solidFill>
            <a:srgbClr val="F0F4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57200" y="2788920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024128" y="2825496"/>
            <a:ext cx="3474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Statistical Analysis &amp; Interpretation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65760" y="3410712"/>
            <a:ext cx="4206240" cy="62179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57200" y="3483864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024128" y="3520440"/>
            <a:ext cx="3474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 Preprocessing Pipeline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65760" y="4105656"/>
            <a:ext cx="4206240" cy="621792"/>
          </a:xfrm>
          <a:prstGeom prst="rect">
            <a:avLst/>
          </a:prstGeom>
          <a:solidFill>
            <a:srgbClr val="F0F4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457200" y="4178808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024128" y="4215384"/>
            <a:ext cx="3474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Model Selection Rationale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846320" y="1325880"/>
            <a:ext cx="4206240" cy="621792"/>
          </a:xfrm>
          <a:prstGeom prst="rect">
            <a:avLst/>
          </a:prstGeom>
          <a:solidFill>
            <a:srgbClr val="F0F4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937760" y="1399032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504688" y="1435608"/>
            <a:ext cx="3474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Model Training Process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846320" y="2020824"/>
            <a:ext cx="4206240" cy="62179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4937760" y="2093976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504688" y="2130552"/>
            <a:ext cx="3474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Model Testing &amp; Evaluation Results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846320" y="2715768"/>
            <a:ext cx="4206240" cy="621792"/>
          </a:xfrm>
          <a:prstGeom prst="rect">
            <a:avLst/>
          </a:prstGeom>
          <a:solidFill>
            <a:srgbClr val="F0F4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4937760" y="2788920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504688" y="2825496"/>
            <a:ext cx="3474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Performance Metrics &amp; Interpretation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846320" y="3410712"/>
            <a:ext cx="4206240" cy="621792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4937760" y="3483864"/>
            <a:ext cx="502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504688" y="3520440"/>
            <a:ext cx="3474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Mehdi (23i0048) | Fahad (23i0614)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Dataset — RACE 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457188" y="833945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ReAding Comprehension from Examinations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365760" y="1188720"/>
            <a:ext cx="2560320" cy="1280160"/>
          </a:xfrm>
          <a:prstGeom prst="rect">
            <a:avLst/>
          </a:prstGeom>
          <a:solidFill>
            <a:srgbClr val="1E4D8C"/>
          </a:solidFill>
          <a:ln cap="flat" cmpd="sng" w="12700">
            <a:solidFill>
              <a:srgbClr val="1E4D8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365760" y="1280160"/>
            <a:ext cx="256032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87,866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365760" y="189280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questions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365760" y="2110435"/>
            <a:ext cx="2560320" cy="358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Questions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3291840" y="1188720"/>
            <a:ext cx="2560320" cy="12801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3291840" y="1280160"/>
            <a:ext cx="256032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~70K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3291840" y="189280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rows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3291840" y="2110435"/>
            <a:ext cx="2560320" cy="358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Training Samples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6217920" y="1188720"/>
            <a:ext cx="2560320" cy="1280160"/>
          </a:xfrm>
          <a:prstGeom prst="rect">
            <a:avLst/>
          </a:prstGeom>
          <a:solidFill>
            <a:srgbClr val="1E4D8C"/>
          </a:solidFill>
          <a:ln cap="flat" cmpd="sng" w="12700">
            <a:solidFill>
              <a:srgbClr val="1E4D8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6217920" y="1280160"/>
            <a:ext cx="2560320" cy="704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~300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217920" y="189280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217920" y="2110435"/>
            <a:ext cx="2560320" cy="3584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Avg Article Length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4" name="Google Shape;84;p5"/>
          <p:cNvGraphicFramePr/>
          <p:nvPr/>
        </p:nvGraphicFramePr>
        <p:xfrm>
          <a:off x="365760" y="274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{18A27D63-B1F3-4707-9336-D710A8016023}</a:tableStyleId>
              </a:tblPr>
              <a:tblGrid>
                <a:gridCol w="1280150"/>
                <a:gridCol w="1645925"/>
                <a:gridCol w="1645925"/>
                <a:gridCol w="1645925"/>
                <a:gridCol w="219455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Split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Rows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Articles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Avg Q Len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Balance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Train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~70,000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~27,000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~11 words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~25% each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Val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~4,900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~1,900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~11 words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~25% each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Test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~4,900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~1,900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~11 words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~25% each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Mehdi (23i0048) | Fahad (23i0614)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Understanding the data before modeling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325875"/>
            <a:ext cx="4114800" cy="32919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6"/>
          <p:cNvSpPr/>
          <p:nvPr/>
        </p:nvSpPr>
        <p:spPr>
          <a:xfrm>
            <a:off x="4846320" y="118872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Difficulty Split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3440" y="1463040"/>
            <a:ext cx="420624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6"/>
          <p:cNvSpPr/>
          <p:nvPr/>
        </p:nvSpPr>
        <p:spPr>
          <a:xfrm>
            <a:off x="4663490" y="3071540"/>
            <a:ext cx="4206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Key EDA Findings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617752" y="3474720"/>
            <a:ext cx="4297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Article length: right-skewed (median ~250 words, max &gt;1,000)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Answer labels (A/B/C/D) balanced at ~25% each — random baseline = 25%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Passages require multi-sentence reasoning — not simple span extraction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274320" y="4954333"/>
            <a:ext cx="8595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Mehdi (23i0048) | Fahad (23i0614)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Statistical Analysis Used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Methods applied throughout the project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365760" y="1280160"/>
            <a:ext cx="4114800" cy="1463040"/>
          </a:xfrm>
          <a:prstGeom prst="rect">
            <a:avLst/>
          </a:prstGeom>
          <a:solidFill>
            <a:srgbClr val="F0F4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502920" y="138988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📊  TF-IDF &amp; CountVectorizer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502920" y="1783080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One-Hot binary encoding (top-5,000 tokens) for sparse text representation. Evaluated TF-IDF — discarded due to IDF penalising important question words.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4800600" y="1280160"/>
            <a:ext cx="4114800" cy="1463040"/>
          </a:xfrm>
          <a:prstGeom prst="rect">
            <a:avLst/>
          </a:prstGeom>
          <a:solidFill>
            <a:srgbClr val="F0F4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4937760" y="138988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📐  Cosine Similarity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937760" y="1783080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Measures angle between article and option vectors. Used as a key feature for answer verification and diversity penalty in distractor selection.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365760" y="2880360"/>
            <a:ext cx="4114800" cy="1463040"/>
          </a:xfrm>
          <a:prstGeom prst="rect">
            <a:avLst/>
          </a:prstGeom>
          <a:solidFill>
            <a:srgbClr val="F0F4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502920" y="299008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🔍  K-Means Clustering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02920" y="3383280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Silhouette score 0.0947 (weak separation — expected for high-dim text). Purity 0.7469 confirms 74.7% of items cluster with their correct class.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800600" y="2880360"/>
            <a:ext cx="4114800" cy="1463040"/>
          </a:xfrm>
          <a:prstGeom prst="rect">
            <a:avLst/>
          </a:prstGeom>
          <a:solidFill>
            <a:srgbClr val="F0F4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4937760" y="299008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🌐  Label Propagation (Semi-Supervised)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937760" y="3383280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Graph-based manifold learning on unlabeled RACE corpus. Result: ~0.25 (near-random) — unlabeled data adds limited signal in this high-dim space.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Mehdi (23i0048) | Fahad (23i0614)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Statistical Analysis — Results Interpretation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143000"/>
            <a:ext cx="530352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8"/>
          <p:cNvSpPr/>
          <p:nvPr/>
        </p:nvSpPr>
        <p:spPr>
          <a:xfrm>
            <a:off x="5943600" y="118872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Interpretation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5943600" y="1600200"/>
            <a:ext cx="30175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LR tops every metric — high-dim sparse space favours linear models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SVM is very close (BLEU gap: 0.0009) — calibration adds noise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RF underperforms — restricted to 5 lexical features, hard ceiling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Ensemble slightly below LR — RF noise dilutes gains when included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K-Means purity 0.7469 validates that feature space has discriminative structure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Label Propagation at ~0.25 shows unlabeled data unhelpful here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Mehdi (23i0048) | Fahad (23i0614)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Data Preprocessing Pipeline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From raw text to model-ready features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365760" y="1234440"/>
            <a:ext cx="1920240" cy="3383280"/>
          </a:xfrm>
          <a:prstGeom prst="rect">
            <a:avLst/>
          </a:prstGeom>
          <a:solidFill>
            <a:srgbClr val="1E4D8C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365760" y="128016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457200" y="192024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 Cleaning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457200" y="2404872"/>
            <a:ext cx="1737360" cy="4572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457200" y="2514600"/>
            <a:ext cx="17373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Lowercase, strip punctuation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_clean_for_eval() ensures symmetry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between prediction &amp; reference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2286000" y="2651760"/>
            <a:ext cx="228600" cy="2286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2286000" y="2633472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2514600" y="1234440"/>
            <a:ext cx="1920240" cy="33832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2514600" y="128016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2606040" y="192024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Tokenization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2606040" y="2404872"/>
            <a:ext cx="1737360" cy="4572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2606040" y="2514600"/>
            <a:ext cx="17373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CountVectorizer tokenises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top-5,000 tokens, binary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(One-Hot encoding)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4434840" y="2651760"/>
            <a:ext cx="228600" cy="2286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4434840" y="2633472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4663440" y="1234440"/>
            <a:ext cx="1920240" cy="3383280"/>
          </a:xfrm>
          <a:prstGeom prst="rect">
            <a:avLst/>
          </a:prstGeom>
          <a:solidFill>
            <a:srgbClr val="1E4D8C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4663440" y="128016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4754880" y="192024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4754880" y="2404872"/>
            <a:ext cx="1737360" cy="4572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4754880" y="2514600"/>
            <a:ext cx="17373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Cosine similarity (article vs option)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lexical features: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len, overlap, position, freq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6583680" y="2651760"/>
            <a:ext cx="228600" cy="2286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6583680" y="2633472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6812280" y="1234440"/>
            <a:ext cx="1920240" cy="33832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6812280" y="128016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6903720" y="1920240"/>
            <a:ext cx="1737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Binary Labelling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6903720" y="2404872"/>
            <a:ext cx="1737360" cy="45720"/>
          </a:xfrm>
          <a:prstGeom prst="rect">
            <a:avLst/>
          </a:prstGeom>
          <a:solidFill>
            <a:srgbClr val="FFFFFF">
              <a:alpha val="40000"/>
            </a:srgbClr>
          </a:solidFill>
          <a:ln cap="flat" cmpd="sng" w="12700">
            <a:solidFill>
              <a:srgbClr val="FFF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6903720" y="2514600"/>
            <a:ext cx="17373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4-way → 4× binary classifiers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label=1 if option is correct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Pick highest P(correct)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Mehdi (23i0048) | Fahad (23i0614)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Model Selection Process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Why Logistic Regression was chosen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365760" y="1234440"/>
            <a:ext cx="8412480" cy="804672"/>
          </a:xfrm>
          <a:prstGeom prst="rect">
            <a:avLst/>
          </a:prstGeom>
          <a:solidFill>
            <a:srgbClr val="0F2B5B"/>
          </a:solidFill>
          <a:ln cap="flat" cmpd="sng" w="12700">
            <a:solidFill>
              <a:srgbClr val="1E4D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365760" y="1234440"/>
            <a:ext cx="91440" cy="8046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594360" y="130759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Logistic Regression ★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594360" y="1636776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performer. L2 regularisation handles ~5,007-dim sparse feature matrix efficiently. Probabilistic outputs support soft-vote ensemble.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7772400" y="1490472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✔ Selected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365760" y="2148840"/>
            <a:ext cx="8412480" cy="804672"/>
          </a:xfrm>
          <a:prstGeom prst="rect">
            <a:avLst/>
          </a:prstGeom>
          <a:solidFill>
            <a:srgbClr val="F0F4FA"/>
          </a:solidFill>
          <a:ln cap="flat" cmpd="sng" w="12700">
            <a:solidFill>
              <a:srgbClr val="1E4D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365760" y="2148840"/>
            <a:ext cx="91440" cy="8046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594360" y="222199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SVM (Calibrated)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594360" y="2551176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Competitive but marginally weaker after CalibratedClassifierCV wrapping. LinearSVC calibration adds minor noise.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7772400" y="2404872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✔ Selected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365760" y="3063240"/>
            <a:ext cx="8412480" cy="804672"/>
          </a:xfrm>
          <a:prstGeom prst="rect">
            <a:avLst/>
          </a:prstGeom>
          <a:solidFill>
            <a:srgbClr val="FFEFEF"/>
          </a:solidFill>
          <a:ln cap="flat" cmpd="sng" w="12700">
            <a:solidFill>
              <a:srgbClr val="FFAA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365760" y="3063240"/>
            <a:ext cx="91440" cy="804672"/>
          </a:xfrm>
          <a:prstGeom prst="rect">
            <a:avLst/>
          </a:prstGeom>
          <a:solidFill>
            <a:srgbClr val="CC0000"/>
          </a:solidFill>
          <a:ln cap="flat" cmpd="sng" w="127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594360" y="313639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594360" y="3465576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Restricted to 5 lexical features — hard ceiling. ~5 BLEU-point gap. Excluded from final ensemble.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7772400" y="3319272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✗ Excluded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365760" y="3977640"/>
            <a:ext cx="8412480" cy="804672"/>
          </a:xfrm>
          <a:prstGeom prst="rect">
            <a:avLst/>
          </a:prstGeom>
          <a:solidFill>
            <a:srgbClr val="F0F4FA"/>
          </a:solidFill>
          <a:ln cap="flat" cmpd="sng" w="12700">
            <a:solidFill>
              <a:srgbClr val="1E4D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365760" y="3977640"/>
            <a:ext cx="91440" cy="80467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594360" y="405079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Ensemble LR×0.7 + SVM×0.3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594360" y="4379976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Combines strengths of LR and SVM. BLEU 0.3038 vs LR 0.3042. RF excluded because its low-dim predictions add noise.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7772400" y="4233672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✔ Selected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Mehdi (23i0048) | Fahad (23i0614)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Model Training Process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How each model was trained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365760" y="1234440"/>
            <a:ext cx="4937760" cy="34747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457200" y="12801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Architecture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457200" y="1691640"/>
            <a:ext cx="47548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F3FC"/>
                </a:solidFill>
                <a:latin typeface="Consolas"/>
                <a:ea typeface="Consolas"/>
                <a:cs typeface="Consolas"/>
                <a:sym typeface="Consolas"/>
              </a:rPr>
              <a:t>Input: (article, question, option_A…D)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F3FC"/>
                </a:solidFill>
                <a:latin typeface="Consolas"/>
                <a:ea typeface="Consolas"/>
                <a:cs typeface="Consolas"/>
                <a:sym typeface="Consolas"/>
              </a:rPr>
              <a:t>  ↓ Text cleaning + CountVectorizer (top-5000, binary)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F3FC"/>
                </a:solidFill>
                <a:latin typeface="Consolas"/>
                <a:ea typeface="Consolas"/>
                <a:cs typeface="Consolas"/>
                <a:sym typeface="Consolas"/>
              </a:rPr>
              <a:t>  + Cosine similarity (article vs option)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F3FC"/>
                </a:solidFill>
                <a:latin typeface="Consolas"/>
                <a:ea typeface="Consolas"/>
                <a:cs typeface="Consolas"/>
                <a:sym typeface="Consolas"/>
              </a:rPr>
              <a:t>  + 5 lexical features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F3FC"/>
                </a:solidFill>
                <a:latin typeface="Consolas"/>
                <a:ea typeface="Consolas"/>
                <a:cs typeface="Consolas"/>
                <a:sym typeface="Consolas"/>
              </a:rPr>
              <a:t>  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F3FC"/>
                </a:solidFill>
                <a:latin typeface="Consolas"/>
                <a:ea typeface="Consolas"/>
                <a:cs typeface="Consolas"/>
                <a:sym typeface="Consolas"/>
              </a:rPr>
              <a:t>  ├─ Logistic Regression (saga, C=1, max_iter=1000)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F3FC"/>
                </a:solidFill>
                <a:latin typeface="Consolas"/>
                <a:ea typeface="Consolas"/>
                <a:cs typeface="Consolas"/>
                <a:sym typeface="Consolas"/>
              </a:rPr>
              <a:t>  ├─ SVM + CalibratedClassifierCV (max_iter=2000)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F3FC"/>
                </a:solidFill>
                <a:latin typeface="Consolas"/>
                <a:ea typeface="Consolas"/>
                <a:cs typeface="Consolas"/>
                <a:sym typeface="Consolas"/>
              </a:rPr>
              <a:t>  ├─ Random Forest (200 trees — lexical only)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F3FC"/>
                </a:solidFill>
                <a:latin typeface="Consolas"/>
                <a:ea typeface="Consolas"/>
                <a:cs typeface="Consolas"/>
                <a:sym typeface="Consolas"/>
              </a:rPr>
              <a:t>  └─ Ensemble: LR×0.7 + SVM×0.3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F3FC"/>
                </a:solidFill>
                <a:latin typeface="Consolas"/>
                <a:ea typeface="Consolas"/>
                <a:cs typeface="Consolas"/>
                <a:sym typeface="Consolas"/>
              </a:rPr>
              <a:t>  ↓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F3FC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A5F3FC"/>
                </a:solidFill>
                <a:latin typeface="Consolas"/>
                <a:ea typeface="Consolas"/>
                <a:cs typeface="Consolas"/>
                <a:sym typeface="Consolas"/>
              </a:rPr>
              <a:t>  Binary classifier per option → pick argmax P(correct)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5577840" y="12344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Training Details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5577840" y="1691640"/>
            <a:ext cx="338328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~70K training examples, 4-way multiple choice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Each sample expands to 4 binary rows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Binary CountVectorizer: top 5,000 tokens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Preprocessing symmetry: _clean_for_eval() applied to both prediction and reference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Label Propagation evaluated on unlabeled data (semi-supervised diagnostic)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7 unit tests pass; latency &lt; 10s on CPU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Mehdi (23i0048) | Fahad (23i0614)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Model B — Distractor &amp; Hint Training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Generating distractors and graduated hints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365760" y="12344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Distractor Pipeline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365760" y="1645920"/>
            <a:ext cx="4114800" cy="713232"/>
          </a:xfrm>
          <a:prstGeom prst="rect">
            <a:avLst/>
          </a:prstGeom>
          <a:solidFill>
            <a:srgbClr val="F0F4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2"/>
          <p:cNvSpPr/>
          <p:nvPr/>
        </p:nvSpPr>
        <p:spPr>
          <a:xfrm>
            <a:off x="502920" y="1719072"/>
            <a:ext cx="3886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 Sliding-window extraction (5–10 word phrases)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365760" y="2423160"/>
            <a:ext cx="411480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502920" y="2496312"/>
            <a:ext cx="3886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 Feature engineering per candidate: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cosine_sim_to_answer, cosine_sim_to_article,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 passage_frequency, char_match, length_ratio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365760" y="3200400"/>
            <a:ext cx="4114800" cy="713232"/>
          </a:xfrm>
          <a:prstGeom prst="rect">
            <a:avLst/>
          </a:prstGeom>
          <a:solidFill>
            <a:srgbClr val="F0F4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2"/>
          <p:cNvSpPr/>
          <p:nvPr/>
        </p:nvSpPr>
        <p:spPr>
          <a:xfrm>
            <a:off x="502920" y="3273552"/>
            <a:ext cx="3886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3. LR ranker selects top-3 candidates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365760" y="3977640"/>
            <a:ext cx="411480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"/>
          <p:cNvSpPr/>
          <p:nvPr/>
        </p:nvSpPr>
        <p:spPr>
          <a:xfrm>
            <a:off x="502920" y="4050792"/>
            <a:ext cx="3886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4. Diversity penalty (cosine &lt; 0.8) ensures lexical variety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4754880" y="12344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Hint Extractor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4754880" y="1645920"/>
            <a:ext cx="4114800" cy="2971800"/>
          </a:xfrm>
          <a:prstGeom prst="rect">
            <a:avLst/>
          </a:prstGeom>
          <a:solidFill>
            <a:srgbClr val="F0F4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4892040" y="1737360"/>
            <a:ext cx="384048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Score sentences by keyword overlap with question tokens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Select 3 hints at 0th, 33rd, 66th percentiles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Gradual disclosure: general → near-explicit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Proxy reference: passage sentence with max keyword overlap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Result: ROUGE-L 0.1375 (meaningful sentence-level recall)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Mehdi (23i0048) | Fahad (23i0614)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Model A — Testing &amp; Evaluation Results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"/>
          <p:cNvSpPr/>
          <p:nvPr/>
        </p:nvSpPr>
        <p:spPr>
          <a:xfrm>
            <a:off x="494600" y="82297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Test set performance across all models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143000"/>
            <a:ext cx="5303520" cy="35661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7" name="Google Shape;257;p13"/>
          <p:cNvGraphicFramePr/>
          <p:nvPr/>
        </p:nvGraphicFramePr>
        <p:xfrm>
          <a:off x="585216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{18A27D63-B1F3-4707-9336-D710A8016023}</a:tableStyleId>
              </a:tblPr>
              <a:tblGrid>
                <a:gridCol w="1097275"/>
                <a:gridCol w="640075"/>
                <a:gridCol w="640075"/>
                <a:gridCol w="6400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Model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D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BLEU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D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ROUGE-L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D8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METEOR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4D8C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LR ★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0.3042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0.4637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0.4136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SVM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0.3033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0.4628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0.4126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RF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0.2591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0.4174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0.3662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Ensemble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0.3038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0.4633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0.4132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8" name="Google Shape;258;p13"/>
          <p:cNvSpPr/>
          <p:nvPr/>
        </p:nvSpPr>
        <p:spPr>
          <a:xfrm>
            <a:off x="5852160" y="35204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★ LR outperforms on ALL metrics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5852160" y="388620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Ensemble within 0.0004 BLEU of LR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5852160" y="42062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RF excluded — lexical-only features limit ceiling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Mehdi (23i0048) | Fahad (23i0614)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Model B — Testing &amp; Evaluation Results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4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Distractor and hint generation metrics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365760" y="123444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Distractor Generation — Before vs After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1645920"/>
            <a:ext cx="5303520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4"/>
          <p:cNvSpPr/>
          <p:nvPr/>
        </p:nvSpPr>
        <p:spPr>
          <a:xfrm>
            <a:off x="5943600" y="1645920"/>
            <a:ext cx="2834640" cy="868680"/>
          </a:xfrm>
          <a:prstGeom prst="rect">
            <a:avLst/>
          </a:prstGeom>
          <a:solidFill>
            <a:srgbClr val="F0F4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4"/>
          <p:cNvSpPr/>
          <p:nvPr/>
        </p:nvSpPr>
        <p:spPr>
          <a:xfrm>
            <a:off x="6035040" y="169164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BLEU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7863840" y="1664208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+5×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6035040" y="212140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0.0034 → 0.0173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5943600" y="2651760"/>
            <a:ext cx="2834640" cy="868680"/>
          </a:xfrm>
          <a:prstGeom prst="rect">
            <a:avLst/>
          </a:prstGeom>
          <a:solidFill>
            <a:srgbClr val="F0F4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4"/>
          <p:cNvSpPr/>
          <p:nvPr/>
        </p:nvSpPr>
        <p:spPr>
          <a:xfrm>
            <a:off x="6035040" y="269748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ROUGE-1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7863840" y="2670048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+67%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6035040" y="312724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0.0720 → 0.1206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5943600" y="3657600"/>
            <a:ext cx="2834640" cy="868680"/>
          </a:xfrm>
          <a:prstGeom prst="rect">
            <a:avLst/>
          </a:prstGeom>
          <a:solidFill>
            <a:srgbClr val="F0F4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4"/>
          <p:cNvSpPr/>
          <p:nvPr/>
        </p:nvSpPr>
        <p:spPr>
          <a:xfrm>
            <a:off x="6035040" y="370332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METEOR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7863840" y="3675888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+3.3×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6035040" y="413308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0.0289 → 0.0954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5943613" y="4498848"/>
            <a:ext cx="2926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Hint Generation: ROUGE-L 0.1375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Mehdi (23i0048) | Fahad (23i0614)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Performance Metrics &amp; Interpretation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Understanding BLEU, ROUGE, METEOR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365760" y="1234440"/>
            <a:ext cx="4114800" cy="1554480"/>
          </a:xfrm>
          <a:prstGeom prst="rect">
            <a:avLst/>
          </a:prstGeom>
          <a:solidFill>
            <a:srgbClr val="F0F4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5"/>
          <p:cNvSpPr/>
          <p:nvPr/>
        </p:nvSpPr>
        <p:spPr>
          <a:xfrm>
            <a:off x="365760" y="1234440"/>
            <a:ext cx="4114800" cy="384048"/>
          </a:xfrm>
          <a:prstGeom prst="rect">
            <a:avLst/>
          </a:prstGeom>
          <a:solidFill>
            <a:srgbClr val="1E4D8C"/>
          </a:solidFill>
          <a:ln cap="flat" cmpd="sng" w="12700">
            <a:solidFill>
              <a:srgbClr val="1E4D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5"/>
          <p:cNvSpPr/>
          <p:nvPr/>
        </p:nvSpPr>
        <p:spPr>
          <a:xfrm>
            <a:off x="475488" y="1271016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BLEU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2651760" y="130759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Best: 0.3042 (LR)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475488" y="169164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Precision-oriented n-gram overlap. Best for short predicted text. Score 0.3 is strong for CPU-only classical model on RACE.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5"/>
          <p:cNvSpPr/>
          <p:nvPr/>
        </p:nvSpPr>
        <p:spPr>
          <a:xfrm>
            <a:off x="4800600" y="1234440"/>
            <a:ext cx="4114800" cy="1554480"/>
          </a:xfrm>
          <a:prstGeom prst="rect">
            <a:avLst/>
          </a:prstGeom>
          <a:solidFill>
            <a:srgbClr val="F0F4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5"/>
          <p:cNvSpPr/>
          <p:nvPr/>
        </p:nvSpPr>
        <p:spPr>
          <a:xfrm>
            <a:off x="4800600" y="1234440"/>
            <a:ext cx="4114800" cy="384048"/>
          </a:xfrm>
          <a:prstGeom prst="rect">
            <a:avLst/>
          </a:prstGeom>
          <a:solidFill>
            <a:srgbClr val="1E4D8C"/>
          </a:solidFill>
          <a:ln cap="flat" cmpd="sng" w="12700">
            <a:solidFill>
              <a:srgbClr val="1E4D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5"/>
          <p:cNvSpPr/>
          <p:nvPr/>
        </p:nvSpPr>
        <p:spPr>
          <a:xfrm>
            <a:off x="4910328" y="1271016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ROUGE-1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5"/>
          <p:cNvSpPr/>
          <p:nvPr/>
        </p:nvSpPr>
        <p:spPr>
          <a:xfrm>
            <a:off x="7086600" y="130759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Best: 0.4703 (LR)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4910328" y="169164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Unigram recall overlap. Captures how many reference words appear in prediction.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5"/>
          <p:cNvSpPr/>
          <p:nvPr/>
        </p:nvSpPr>
        <p:spPr>
          <a:xfrm>
            <a:off x="365760" y="2926080"/>
            <a:ext cx="4114800" cy="1554480"/>
          </a:xfrm>
          <a:prstGeom prst="rect">
            <a:avLst/>
          </a:prstGeom>
          <a:solidFill>
            <a:srgbClr val="F0F4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5"/>
          <p:cNvSpPr/>
          <p:nvPr/>
        </p:nvSpPr>
        <p:spPr>
          <a:xfrm>
            <a:off x="365760" y="2926080"/>
            <a:ext cx="4114800" cy="384048"/>
          </a:xfrm>
          <a:prstGeom prst="rect">
            <a:avLst/>
          </a:prstGeom>
          <a:solidFill>
            <a:srgbClr val="1E4D8C"/>
          </a:solidFill>
          <a:ln cap="flat" cmpd="sng" w="12700">
            <a:solidFill>
              <a:srgbClr val="1E4D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5"/>
          <p:cNvSpPr/>
          <p:nvPr/>
        </p:nvSpPr>
        <p:spPr>
          <a:xfrm>
            <a:off x="475488" y="2962656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ROUGE-L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5"/>
          <p:cNvSpPr/>
          <p:nvPr/>
        </p:nvSpPr>
        <p:spPr>
          <a:xfrm>
            <a:off x="2651760" y="299923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Best: 0.4637 (LR)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475488" y="338328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Longest Common Subsequence. Rewards in-order word matches — more semantically sensitive than ROUGE-1.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5"/>
          <p:cNvSpPr/>
          <p:nvPr/>
        </p:nvSpPr>
        <p:spPr>
          <a:xfrm>
            <a:off x="4800600" y="2926080"/>
            <a:ext cx="4114800" cy="1554480"/>
          </a:xfrm>
          <a:prstGeom prst="rect">
            <a:avLst/>
          </a:prstGeom>
          <a:solidFill>
            <a:srgbClr val="F0F4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5"/>
          <p:cNvSpPr/>
          <p:nvPr/>
        </p:nvSpPr>
        <p:spPr>
          <a:xfrm>
            <a:off x="4800600" y="2926080"/>
            <a:ext cx="4114800" cy="384048"/>
          </a:xfrm>
          <a:prstGeom prst="rect">
            <a:avLst/>
          </a:prstGeom>
          <a:solidFill>
            <a:srgbClr val="1E4D8C"/>
          </a:solidFill>
          <a:ln cap="flat" cmpd="sng" w="12700">
            <a:solidFill>
              <a:srgbClr val="1E4D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4910328" y="2962656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METEOR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7086600" y="299923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Best: 0.4136 (LR)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5"/>
          <p:cNvSpPr/>
          <p:nvPr/>
        </p:nvSpPr>
        <p:spPr>
          <a:xfrm>
            <a:off x="4910328" y="3383280"/>
            <a:ext cx="3840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Accounts for synonyms, stemming, and paraphrase. More linguistically robust than BLEU/ROUGE. Favours grammatically natural output.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5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Mehdi (23i0048) | Fahad (23i0614)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6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Streamlit Application — UI 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6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Four interactive screens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6"/>
          <p:cNvSpPr/>
          <p:nvPr/>
        </p:nvSpPr>
        <p:spPr>
          <a:xfrm>
            <a:off x="365760" y="1234440"/>
            <a:ext cx="4114800" cy="1783080"/>
          </a:xfrm>
          <a:prstGeom prst="rect">
            <a:avLst/>
          </a:prstGeom>
          <a:solidFill>
            <a:srgbClr val="F0F4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6"/>
          <p:cNvSpPr/>
          <p:nvPr/>
        </p:nvSpPr>
        <p:spPr>
          <a:xfrm>
            <a:off x="475488" y="1325880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📄  Article Input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6"/>
          <p:cNvSpPr/>
          <p:nvPr/>
        </p:nvSpPr>
        <p:spPr>
          <a:xfrm>
            <a:off x="502920" y="1783080"/>
            <a:ext cx="3840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text_area for passage entry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Load random RACE sample button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Generate Quiz spinner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/>
          <p:nvPr/>
        </p:nvSpPr>
        <p:spPr>
          <a:xfrm>
            <a:off x="4800600" y="1234440"/>
            <a:ext cx="4114800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6"/>
          <p:cNvSpPr/>
          <p:nvPr/>
        </p:nvSpPr>
        <p:spPr>
          <a:xfrm>
            <a:off x="4910328" y="1325880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❓  Quiz 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4937760" y="1783080"/>
            <a:ext cx="3840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Radio A/B/C/D options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Check Answer + result display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"Why?" keyword explainer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/>
          <p:nvPr/>
        </p:nvSpPr>
        <p:spPr>
          <a:xfrm>
            <a:off x="365760" y="3154680"/>
            <a:ext cx="4114800" cy="1783080"/>
          </a:xfrm>
          <a:prstGeom prst="rect">
            <a:avLst/>
          </a:prstGeom>
          <a:solidFill>
            <a:srgbClr val="F0F4FA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6"/>
          <p:cNvSpPr/>
          <p:nvPr/>
        </p:nvSpPr>
        <p:spPr>
          <a:xfrm>
            <a:off x="475488" y="3246120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💡  Hint Panel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6"/>
          <p:cNvSpPr/>
          <p:nvPr/>
        </p:nvSpPr>
        <p:spPr>
          <a:xfrm>
            <a:off x="502920" y="3703320"/>
            <a:ext cx="3840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3 graduated expanders (general → explicit)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Reveal Answer after all 3 opened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Session state guard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/>
          <p:nvPr/>
        </p:nvSpPr>
        <p:spPr>
          <a:xfrm>
            <a:off x="4800600" y="3154680"/>
            <a:ext cx="4114800" cy="17830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6"/>
          <p:cNvSpPr/>
          <p:nvPr/>
        </p:nvSpPr>
        <p:spPr>
          <a:xfrm>
            <a:off x="4910328" y="3246120"/>
            <a:ext cx="3886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D8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4D8C"/>
                </a:solidFill>
                <a:latin typeface="Calibri"/>
                <a:ea typeface="Calibri"/>
                <a:cs typeface="Calibri"/>
                <a:sym typeface="Calibri"/>
              </a:rPr>
              <a:t>📊  Analytics Dashboard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6"/>
          <p:cNvSpPr/>
          <p:nvPr/>
        </p:nvSpPr>
        <p:spPr>
          <a:xfrm>
            <a:off x="4937760" y="3703320"/>
            <a:ext cx="3840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Model A + B metrics tables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Bar chart visualisations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CSV export + session stats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6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Mehdi (23i0048) | Fahad (23i0614)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B5B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7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7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Project Demo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365760" y="896112"/>
            <a:ext cx="109728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7"/>
          <p:cNvSpPr/>
          <p:nvPr/>
        </p:nvSpPr>
        <p:spPr>
          <a:xfrm>
            <a:off x="365760" y="10058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Demonstrating the Streamlit quiz generation system in action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7"/>
          <p:cNvSpPr/>
          <p:nvPr/>
        </p:nvSpPr>
        <p:spPr>
          <a:xfrm>
            <a:off x="1097276" y="1463050"/>
            <a:ext cx="5526900" cy="3108900"/>
          </a:xfrm>
          <a:prstGeom prst="rect">
            <a:avLst/>
          </a:prstGeom>
          <a:solidFill>
            <a:srgbClr val="1E4D8C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7"/>
          <p:cNvSpPr/>
          <p:nvPr/>
        </p:nvSpPr>
        <p:spPr>
          <a:xfrm>
            <a:off x="1097276" y="1463050"/>
            <a:ext cx="5526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7200"/>
              <a:buFont typeface="Calibri"/>
              <a:buNone/>
            </a:pPr>
            <a:r>
              <a:rPr b="0" i="0" lang="en-US" sz="7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1097276" y="3429000"/>
            <a:ext cx="5526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Screen recording of Streamlit app — quiz generation, answer checking, hint panel, and analytics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7" name="Google Shape;357;p17" title="2026-05-10 04-28-20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7275" y="1463050"/>
            <a:ext cx="5527037" cy="310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B5B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8"/>
          <p:cNvSpPr/>
          <p:nvPr/>
        </p:nvSpPr>
        <p:spPr>
          <a:xfrm>
            <a:off x="6583680" y="2743200"/>
            <a:ext cx="3657600" cy="3657600"/>
          </a:xfrm>
          <a:prstGeom prst="ellipse">
            <a:avLst/>
          </a:prstGeom>
          <a:solidFill>
            <a:srgbClr val="1E4D8C">
              <a:alpha val="34901"/>
            </a:srgbClr>
          </a:solidFill>
          <a:ln cap="flat" cmpd="sng" w="12700">
            <a:solidFill>
              <a:srgbClr val="1E4D8C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8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&amp; Key Takeaways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8"/>
          <p:cNvSpPr/>
          <p:nvPr/>
        </p:nvSpPr>
        <p:spPr>
          <a:xfrm>
            <a:off x="365760" y="896112"/>
            <a:ext cx="109728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8"/>
          <p:cNvSpPr/>
          <p:nvPr/>
        </p:nvSpPr>
        <p:spPr>
          <a:xfrm>
            <a:off x="365760" y="1097280"/>
            <a:ext cx="8046720" cy="576072"/>
          </a:xfrm>
          <a:prstGeom prst="rect">
            <a:avLst/>
          </a:prstGeom>
          <a:solidFill>
            <a:srgbClr val="1E4D8C">
              <a:alpha val="70196"/>
            </a:srgbClr>
          </a:solidFill>
          <a:ln cap="flat" cmpd="sng" w="12700">
            <a:solidFill>
              <a:srgbClr val="14B8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8"/>
          <p:cNvSpPr/>
          <p:nvPr/>
        </p:nvSpPr>
        <p:spPr>
          <a:xfrm>
            <a:off x="548640" y="1152144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🏆  Logistic Regression: BLEU 0.3042, METEOR 0.4136 — best model on all metrics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8"/>
          <p:cNvSpPr/>
          <p:nvPr/>
        </p:nvSpPr>
        <p:spPr>
          <a:xfrm>
            <a:off x="365760" y="1737360"/>
            <a:ext cx="8046720" cy="576072"/>
          </a:xfrm>
          <a:prstGeom prst="rect">
            <a:avLst/>
          </a:prstGeom>
          <a:solidFill>
            <a:srgbClr val="1E4D8C">
              <a:alpha val="70196"/>
            </a:srgbClr>
          </a:solidFill>
          <a:ln cap="flat" cmpd="sng" w="12700">
            <a:solidFill>
              <a:srgbClr val="14B8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8"/>
          <p:cNvSpPr/>
          <p:nvPr/>
        </p:nvSpPr>
        <p:spPr>
          <a:xfrm>
            <a:off x="548640" y="1792224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 Inference latency 0.3–1.5s on CPU — well within 10s requirement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365760" y="2377440"/>
            <a:ext cx="8046720" cy="576072"/>
          </a:xfrm>
          <a:prstGeom prst="rect">
            <a:avLst/>
          </a:prstGeom>
          <a:solidFill>
            <a:srgbClr val="1E4D8C">
              <a:alpha val="70196"/>
            </a:srgbClr>
          </a:solidFill>
          <a:ln cap="flat" cmpd="sng" w="12700">
            <a:solidFill>
              <a:srgbClr val="14B8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8"/>
          <p:cNvSpPr/>
          <p:nvPr/>
        </p:nvSpPr>
        <p:spPr>
          <a:xfrm>
            <a:off x="548640" y="2432304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📈  5–10 word sliding window improved distractor BLEU by 5× over 1–2 gram baseline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8"/>
          <p:cNvSpPr/>
          <p:nvPr/>
        </p:nvSpPr>
        <p:spPr>
          <a:xfrm>
            <a:off x="365760" y="3017520"/>
            <a:ext cx="8046720" cy="576072"/>
          </a:xfrm>
          <a:prstGeom prst="rect">
            <a:avLst/>
          </a:prstGeom>
          <a:solidFill>
            <a:srgbClr val="1E4D8C">
              <a:alpha val="70196"/>
            </a:srgbClr>
          </a:solidFill>
          <a:ln cap="flat" cmpd="sng" w="12700">
            <a:solidFill>
              <a:srgbClr val="14B8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8"/>
          <p:cNvSpPr/>
          <p:nvPr/>
        </p:nvSpPr>
        <p:spPr>
          <a:xfrm>
            <a:off x="548640" y="3072384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 Hint generation: ROUGE-L 0.1375 (proxy target-sentence reference)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8"/>
          <p:cNvSpPr/>
          <p:nvPr/>
        </p:nvSpPr>
        <p:spPr>
          <a:xfrm>
            <a:off x="365760" y="3657600"/>
            <a:ext cx="8046720" cy="576072"/>
          </a:xfrm>
          <a:prstGeom prst="rect">
            <a:avLst/>
          </a:prstGeom>
          <a:solidFill>
            <a:srgbClr val="1E4D8C">
              <a:alpha val="70196"/>
            </a:srgbClr>
          </a:solidFill>
          <a:ln cap="flat" cmpd="sng" w="12700">
            <a:solidFill>
              <a:srgbClr val="14B8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8"/>
          <p:cNvSpPr/>
          <p:nvPr/>
        </p:nvSpPr>
        <p:spPr>
          <a:xfrm>
            <a:off x="548640" y="3712464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🖥️  Clean 4-screen Streamlit UI with analytics dashboard and CSV export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8"/>
          <p:cNvSpPr/>
          <p:nvPr/>
        </p:nvSpPr>
        <p:spPr>
          <a:xfrm>
            <a:off x="365760" y="4297680"/>
            <a:ext cx="8046720" cy="576072"/>
          </a:xfrm>
          <a:prstGeom prst="rect">
            <a:avLst/>
          </a:prstGeom>
          <a:solidFill>
            <a:srgbClr val="1E4D8C">
              <a:alpha val="70196"/>
            </a:srgbClr>
          </a:solidFill>
          <a:ln cap="flat" cmpd="sng" w="12700">
            <a:solidFill>
              <a:srgbClr val="14B8A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8"/>
          <p:cNvSpPr/>
          <p:nvPr/>
        </p:nvSpPr>
        <p:spPr>
          <a:xfrm>
            <a:off x="548640" y="4352544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All 7 unit tests pass; preprocessing symmetry ensures fair evaluation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16 / 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